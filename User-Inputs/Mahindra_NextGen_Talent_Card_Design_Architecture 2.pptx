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Mahindra_NextGen_Talent_Card-25th Sept.xlsx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Mahindra_NextGen_Talent_Card-25th Sept.xlsx
- Microsoft Entra architecture documentation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Mahindra_NextGen_Talent_Card-25th Sept.xlsx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Mahindra_NextGen_Talent_Card-25th Sept.xlsx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MAHINDRA NEXT GEN TALENT CARD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784080" y="210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September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519672"/>
            <a:ext cx="11183112" cy="0"/>
          </a:xfrm>
          <a:prstGeom prst="line">
            <a:avLst/>
          </a:prstGeom>
          <a:noFill/>
          <a:ln w="889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99"/>
                </a:solidFill>
              </a:rPr>
              <a:t>Talent Profile • Learning • Career • Succession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CCB2841B360D_01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111827">
              <a:alpha val="88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1234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Mahindra Next Gen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Talent Card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94944" y="267004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3F4F6"/>
                </a:solidFill>
              </a:rPr>
              <a:t>Design concept, solution architecture and implementation roadmap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94944" y="3493008"/>
            <a:ext cx="1005840" cy="1"/>
          </a:xfrm>
          <a:prstGeom prst="line">
            <a:avLst/>
          </a:prstGeom>
          <a:noFill/>
          <a:ln w="635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944" y="3703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trusted profile across MLP, GMC and MALT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Employee • Manager • BHR • Talent COE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</a:rPr>
              <a:t>Architecture &amp; Prototype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Why the platform is needed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Convert manually maintained talent cards into a governed, event-driven talent lifecycle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0292" cy="1417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Current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084832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Profiles require manual creation and maintenance after role changes, promotions, succession transitions and business movements.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70832" y="1554480"/>
            <a:ext cx="50292" cy="141732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Design 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084832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Create a single source of truth with system-prefilled data, controlled employee inputs, manager assessment and BHR validation.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147304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47304" y="1554480"/>
            <a:ext cx="50292" cy="1417320"/>
          </a:xfrm>
          <a:prstGeom prst="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48472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Business outcome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2084832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Improve profile freshness, learning alignment, career visibility, succession discussions and talent governance.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21792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Platform design principles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40965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8448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Configurable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98448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Different fields by programme and batch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56432" y="3886200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EAF2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21024" y="40965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Role-based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0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Employee, Manager, BHR and COE views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72784" y="3886200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37376" y="40965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31152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Event-driven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31152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Refresh on role and programme milestones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89136" y="3886200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EAF2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53728" y="40965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47504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Traceable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47504" y="4407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Complete history, approvals and provenance</a:t>
            </a:r>
            <a:endParaRPr lang="en-US" sz="9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Requirement blueprint from the Excel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The source defines ownership, visibility, controls and programme applicability for every profile field.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50292" cy="1170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Identity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03120"/>
            <a:ext cx="3063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Personal + programme + current role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462272" y="1572768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2272" y="1572768"/>
            <a:ext cx="50292" cy="1170432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3063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Education + prior + Mahindra stints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284464" y="1572768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84464" y="1572768"/>
            <a:ext cx="50292" cy="1170432"/>
          </a:xfrm>
          <a:prstGeom prst="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85632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85632" y="2103120"/>
            <a:ext cx="3063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Learning needs + interventions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081528"/>
            <a:ext cx="50292" cy="1170432"/>
          </a:xfrm>
          <a:prstGeom prst="rect">
            <a:avLst/>
          </a:prstGeom>
          <a:solidFill>
            <a:srgbClr val="B27720"/>
          </a:solidFill>
          <a:ln w="12700">
            <a:solidFill>
              <a:srgbClr val="B277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Evidence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611880"/>
            <a:ext cx="3063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Performance + recognition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462272" y="3081528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62272" y="3081528"/>
            <a:ext cx="50292" cy="117043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Direction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611880"/>
            <a:ext cx="3063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Aspiration + mobility + readiness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284464" y="3081528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84464" y="3081528"/>
            <a:ext cx="50292" cy="1170432"/>
          </a:xfrm>
          <a:prstGeom prst="rect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85632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85632" y="3611880"/>
            <a:ext cx="3063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Refresh + completeness + audit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58368" y="4846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7F8"/>
          </a:solidFill>
          <a:ln w="12700">
            <a:solidFill>
              <a:srgbClr val="F4C6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5047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Programme-specific relevance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965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67085"/>
                </a:solidFill>
              </a:rPr>
              <a:t>MLP 2027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3383280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59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864608" y="4965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67085"/>
                </a:solidFill>
              </a:rPr>
              <a:t>MLP 2026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864608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76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345936" y="4965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67085"/>
                </a:solidFill>
              </a:rPr>
              <a:t>MLP 2024–25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45936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66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827264" y="4965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67085"/>
                </a:solidFill>
              </a:rPr>
              <a:t>GMC 2019–23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7827264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65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308592" y="4965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67085"/>
                </a:solidFill>
              </a:rPr>
              <a:t>MALT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308592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66</a:t>
            </a:r>
            <a:endParaRPr lang="en-US" sz="1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Recommended solution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modular, API-first architecture balances delivery speed, governance and future scalability.</a:t>
            </a:r>
            <a:endParaRPr lang="en-US" sz="1150" dirty="0"/>
          </a:p>
        </p:txBody>
      </p:sp>
      <p:pic>
        <p:nvPicPr>
          <p:cNvPr id="4" name="Image 0" descr="/mnt/data/generated_image_ACED1434E6AD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18" y="1417320"/>
            <a:ext cx="733806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Core application modules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Organize the platform by business capabilities, while sharing common security, workflow and audit services.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" cy="1417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733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Talent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03911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Personal, programme, current role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50292" cy="141732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16733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203911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Education, prior work, Mahindra stints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508760"/>
            <a:ext cx="50292" cy="1417320"/>
          </a:xfrm>
          <a:prstGeom prst="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30768" y="16733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30768" y="203911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Needs, nominations, interventions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50292" cy="1417320"/>
          </a:xfrm>
          <a:prstGeom prst="rect">
            <a:avLst/>
          </a:prstGeom>
          <a:solidFill>
            <a:srgbClr val="B27720"/>
          </a:solidFill>
          <a:ln w="12700">
            <a:solidFill>
              <a:srgbClr val="B277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35021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86791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Formal cycles and recognition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434840" y="333756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4840" y="3337560"/>
            <a:ext cx="50292" cy="1417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36008" y="35021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Career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36008" y="386791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Aspiration, mobility, readiness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229600" y="333756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3E7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3337560"/>
            <a:ext cx="50292" cy="1417320"/>
          </a:xfrm>
          <a:prstGeom prst="rect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30768" y="35021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30768" y="386791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Workflow, refresh, audit, analytics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51560" y="5349240"/>
            <a:ext cx="10058400" cy="530352"/>
          </a:xfrm>
          <a:prstGeom prst="roundRect">
            <a:avLst>
              <a:gd name="adj" fmla="val 1379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80160" y="55138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Shared services: identity • dynamic forms • rules • workflow • notifications • documents • search • audit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Role-based experience and data ownership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One profile, tailored actions and controlled visibility for every persona.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9"/>
            </a:solidFill>
            <a:prstDash val="solid"/>
          </a:ln>
          <a:effectLst>
            <a:outerShdw blurRad="1651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6192" y="1764792"/>
            <a:ext cx="749808" cy="74980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00784" y="194767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Employee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</a:rPr>
              <a:t>Maintain education, experience, aspirations and mobility.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493008" y="150876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9"/>
            </a:solidFill>
            <a:prstDash val="solid"/>
          </a:ln>
          <a:effectLst>
            <a:outerShdw blurRad="1651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764792"/>
            <a:ext cx="749808" cy="74980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53712" y="194767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21608" y="2697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Manager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0175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</a:rPr>
              <a:t>Review profile, define learning needs and provide development inputs.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345936" y="150876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9"/>
            </a:solidFill>
            <a:prstDash val="solid"/>
          </a:ln>
          <a:effectLst>
            <a:outerShdw blurRad="1651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42048" y="1764792"/>
            <a:ext cx="749808" cy="749808"/>
          </a:xfrm>
          <a:prstGeom prst="ellipse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194767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4536" y="2697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BHR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30175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</a:rPr>
              <a:t>Validate changes, manage programme data and govern profile quality.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198864" y="150876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9"/>
            </a:solidFill>
            <a:prstDash val="solid"/>
          </a:ln>
          <a:effectLst>
            <a:outerShdw blurRad="1651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94976" y="1764792"/>
            <a:ext cx="749808" cy="749808"/>
          </a:xfrm>
          <a:prstGeom prst="ellipse">
            <a:avLst/>
          </a:prstGeom>
          <a:solidFill>
            <a:srgbClr val="B27720"/>
          </a:solidFill>
          <a:ln w="12700">
            <a:solidFill>
              <a:srgbClr val="B277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59568" y="194767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27464" y="2697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Talent COE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54896" y="30175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</a:rPr>
              <a:t>Administer programmes, analyse pipelines and support talent reviews.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58368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Security model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4407408"/>
            <a:ext cx="3154680" cy="914400"/>
          </a:xfrm>
          <a:prstGeom prst="chevron">
            <a:avLst/>
          </a:prstGeom>
          <a:solidFill>
            <a:srgbClr val="FCE8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07008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Role-level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Which modules?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4407408"/>
            <a:ext cx="3154680" cy="914400"/>
          </a:xfrm>
          <a:prstGeom prst="chevron">
            <a:avLst/>
          </a:prstGeom>
          <a:solidFill>
            <a:srgbClr val="EAF2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Record-level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Which employees?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4407408"/>
            <a:ext cx="3154680" cy="914400"/>
          </a:xfrm>
          <a:prstGeom prst="chevron">
            <a:avLst/>
          </a:prstGeom>
          <a:solidFill>
            <a:srgbClr val="E7F4F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22208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Field-level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22208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Which fields and actions?</a:t>
            </a:r>
            <a:endParaRPr lang="en-US" sz="9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Prototype concept: Talent Profile workspace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summary dashboard gives immediate context; detailed sections remain available through guided navigation.</a:t>
            </a:r>
            <a:endParaRPr lang="en-US" sz="1150" dirty="0"/>
          </a:p>
        </p:txBody>
      </p:sp>
      <p:pic>
        <p:nvPicPr>
          <p:cNvPr id="4" name="Image 0" descr="/mnt/data/generated_image_3ACF68B49F14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438" y="1371600"/>
            <a:ext cx="747522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Profile lifecycle and refresh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Update only affected sections after a talent event instead of recreating the complete profile.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38912" y="1828800"/>
            <a:ext cx="1856232" cy="1965960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0160">
            <a:solidFill>
              <a:srgbClr val="DDE2E8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" y="2039112"/>
            <a:ext cx="640080" cy="6400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9304" y="22037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Talent event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0040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Role change, promotion, programme milestone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22576" y="2542032"/>
            <a:ext cx="237744" cy="502920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88920" y="1828800"/>
            <a:ext cx="1856232" cy="1965960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0160">
            <a:solidFill>
              <a:srgbClr val="DDE2E8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65576" y="2039112"/>
            <a:ext cx="640080" cy="6400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39312" y="22037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6936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System update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16936" y="320040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Refresh assignment and close previous stint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72584" y="2542032"/>
            <a:ext cx="237744" cy="502920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38928" y="1828800"/>
            <a:ext cx="1856232" cy="1965960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0160">
            <a:solidFill>
              <a:srgbClr val="DDE2E8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15584" y="2039112"/>
            <a:ext cx="640080" cy="6400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22037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Targeted review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20040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Flag impacted sections for employee or manager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022592" y="2542032"/>
            <a:ext cx="237744" cy="502920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88936" y="1828800"/>
            <a:ext cx="1856232" cy="1965960"/>
          </a:xfrm>
          <a:prstGeom prst="roundRect">
            <a:avLst>
              <a:gd name="adj" fmla="val 4926"/>
            </a:avLst>
          </a:prstGeom>
          <a:solidFill>
            <a:srgbClr val="FFF1F4"/>
          </a:solidFill>
          <a:ln w="20320">
            <a:solidFill>
              <a:srgbClr val="C8102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65592" y="2039112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39328" y="22037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16952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BHR validation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16952" y="320040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Review, correct and approve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372600" y="2542032"/>
            <a:ext cx="237744" cy="502920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838944" y="1828800"/>
            <a:ext cx="1856232" cy="1965960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0160">
            <a:solidFill>
              <a:srgbClr val="DDE2E8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15600" y="2039112"/>
            <a:ext cx="640080" cy="6400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89336" y="22037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66960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Publish snapshot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66960" y="320040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Versioned profile with audit trail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051560" y="44348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17320" y="466344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Approved snapshots preserve history across annual reviews, movements and succession discussions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Recommended implementation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Sequence delivery around an early usable Talent Card, then automate lifecycle events and expand analytics.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383280" cy="6949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755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86968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606040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7"/>
                </a:solidFill>
              </a:rPr>
              <a:t>SSO and roles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Programme masters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Dynamic profile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Employee, Manager and BHR views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Workflow and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07408" y="1600200"/>
            <a:ext cx="3383280" cy="694944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1755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36008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Lifecycle automation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2606040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7"/>
                </a:solidFill>
              </a:rPr>
              <a:t>HR events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Role and stint history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Learning interventions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Notifications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Profile snapshots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56448" y="1600200"/>
            <a:ext cx="3383280" cy="694944"/>
          </a:xfrm>
          <a:prstGeom prst="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5048" y="1755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85048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Talent intelligence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76488" y="2606040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7"/>
                </a:solidFill>
              </a:rPr>
              <a:t>Performance and LMS integration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Talent review dashboards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Succession views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Cross-sector search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Advanced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102E"/>
                </a:solidFill>
              </a:rPr>
              <a:t>Design gate: confirm source systems, field ownership, approval rules, retention and access controls before build.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</a:rPr>
              <a:t>Decision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Build a configurable Talent Lifecycle Platform, not a fixed digital copy of the Excel 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527048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" y="15910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98448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4813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Modular application with API-first integration and shared platform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3816" y="23957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2286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2286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Role-based responsive portal with dashboard, guided sections and timeline views.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" y="32004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30906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30906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Effective-dated history, approved snapshots, provenance and audit by design.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3941064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6" y="40050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8953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Automation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89534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Event-driven refresh for role changes, promotions and programme milestones.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74573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816" y="4809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4700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47000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Backend-enforced record and field security for sensitive talent information.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557784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34440" y="573328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Recommended next step: validate the prototype with Employee, Manager, BHR and Talent COE stakeholders.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958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Mahindra Next Gen Talent Card</dc:title>
  <dc:subject>Mahindra Next Gen Talent Card design and architecture</dc:subject>
  <dc:creator>PUROHIT KAMALKISHORE</dc:creator>
  <cp:lastModifiedBy>PUROHIT KAMALKISHORE</cp:lastModifiedBy>
  <cp:revision>1</cp:revision>
  <dcterms:created xsi:type="dcterms:W3CDTF">2026-09-25T12:21:29Z</dcterms:created>
  <dcterms:modified xsi:type="dcterms:W3CDTF">2026-09-25T12:32:20Z</dcterms:modified>
</cp:coreProperties>
</file>